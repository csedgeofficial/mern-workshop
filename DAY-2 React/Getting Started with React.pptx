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8D99C8-7AE6-4E76-AF22-D8B014E662E8}">
  <a:tblStyle styleId="{158D99C8-7AE6-4E76-AF22-D8B014E662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85900" y="3309044"/>
            <a:ext cx="968121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Getting Started with React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67125" y="4253805"/>
            <a:ext cx="4857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Day 2: Components, State, and Navigation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662487" y="5149155"/>
            <a:ext cx="2867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1DAFB"/>
                </a:solidFill>
                <a:latin typeface="Lato"/>
                <a:ea typeface="Lato"/>
                <a:cs typeface="Lato"/>
                <a:sym typeface="Lato"/>
              </a:rPr>
              <a:t>6-HOUR INTENSIVE BOOTCAMP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0" y="1308794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881437" y="2667000"/>
            <a:ext cx="465058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 Goals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147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the end of today, you will be able to build, style, and navigate modular React applications using modern best practices.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97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6697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66975"/>
            <a:ext cx="349254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94225" y="3524250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Foundations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1243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Understand components, props, and the power of JSX for reusable UI.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524" y="3524250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Reactivity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45074" y="41243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Master the useState and useEffect hooks to handle data and side effects.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350824" y="3524250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Navigation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23374" y="4124325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 routing and context to share state across complex apps.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80987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09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8098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Learning Roadmap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52863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0240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What is a Component?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6241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component is an independent, reusable piece of UI. It allows you to split the UI into separate parts and think about each piece in isolation.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3862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Components can be used anywhere in your application, just like custom HTML tags.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Components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528637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05062"/>
            <a:ext cx="528637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367212"/>
            <a:ext cx="450532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962025" y="27955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The JSX Concept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339566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JSX is a syntax extension that looks like HTML but works inside JavaScript. It makes writing UI much more intuitive.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27955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Key Rules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3395662"/>
            <a:ext cx="45053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Expressions must be wrapped in curly braces {}. Every JSX element must return a single root tag or a Fragment &lt;&gt;.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4053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className instead of class for styling attributes.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JSX: JavaScript + HTML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24312"/>
            <a:ext cx="52863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3033712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61DAFB"/>
                </a:solidFill>
                <a:latin typeface="Lato"/>
                <a:ea typeface="Lato"/>
                <a:cs typeface="Lato"/>
                <a:sym typeface="Lato"/>
              </a:rPr>
              <a:t>1-WAY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4367212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1DAFB"/>
                </a:solidFill>
                <a:latin typeface="Lato"/>
                <a:ea typeface="Lato"/>
                <a:cs typeface="Lato"/>
                <a:sym typeface="Lato"/>
              </a:rPr>
              <a:t>Data Flow Direction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27384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Sending Data Downwards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33385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Props (short for properties) are how we pass information from a Parent component to a Child component.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34125" y="47196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makes components highly reusable and customizable.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Props: Passing Data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975"/>
            <a:ext cx="52863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6975"/>
            <a:ext cx="52863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143375"/>
            <a:ext cx="45053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143375"/>
            <a:ext cx="450532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962025" y="28575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The useState Hook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62025" y="34575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State is "memory" for a component. It stores data that changes over time, like counters or user input.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24650" y="28575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Handling Forms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24650" y="34575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We use state to track input changes in real-time. This is called a "controlled component."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 Management: useState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47482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allows you to perform side effects in functional components that don't belong in the rendering logic.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17024" l="13710" r="13630" t="17293"/>
          <a:stretch/>
        </p:blipFill>
        <p:spPr>
          <a:xfrm>
            <a:off x="6783725" y="1664400"/>
            <a:ext cx="4836775" cy="34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381125" y="217646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Data Fetching: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Pull information from external APIs.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381125" y="2995612"/>
            <a:ext cx="4476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Mounting: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Run code as soon as the component loads.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381125" y="3814762"/>
            <a:ext cx="4476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Execution: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useEffect(() =&gt; { ... }, []) runs once.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219325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0384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3857625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Side Effects: useEffect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21"/>
          <p:cNvGraphicFramePr/>
          <p:nvPr/>
        </p:nvGraphicFramePr>
        <p:xfrm>
          <a:off x="571500" y="2309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{158D99C8-7AE6-4E76-AF22-D8B014E662E8}</a:tableStyleId>
              </a:tblPr>
              <a:tblGrid>
                <a:gridCol w="2331550"/>
                <a:gridCol w="4212875"/>
                <a:gridCol w="4504575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1DAF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Styling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1DAF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CSS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1DAF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Tailwind CSS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Syntax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Separate .css files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Utility classes in JSX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manual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Pre-defined design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className="title"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className="text-2xl font-bold"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 For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Legacy or strictly unique designs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Rapid, consistent development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1"/>
          <p:cNvSpPr/>
          <p:nvPr/>
        </p:nvSpPr>
        <p:spPr>
          <a:xfrm>
            <a:off x="571500" y="3600450"/>
            <a:ext cx="23315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903041" y="3600450"/>
            <a:ext cx="421287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7115919" y="3600450"/>
            <a:ext cx="45045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4238625"/>
            <a:ext cx="23315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903041" y="4238625"/>
            <a:ext cx="421287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115919" y="4238625"/>
            <a:ext cx="45045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4895850"/>
            <a:ext cx="23315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903041" y="4895850"/>
            <a:ext cx="421287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115919" y="4895850"/>
            <a:ext cx="45045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5534025"/>
            <a:ext cx="23315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903041" y="5534025"/>
            <a:ext cx="4212877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115919" y="5534025"/>
            <a:ext cx="450458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Styling the Modern Web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0"/>
            <a:ext cx="254124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3810000"/>
            <a:ext cx="254124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3429000"/>
            <a:ext cx="254124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3810000"/>
            <a:ext cx="254124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3781425" y="2476500"/>
            <a:ext cx="4629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 Multi-Page behavior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react-router-dom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4452937"/>
            <a:ext cx="110490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746870" y="4357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1DAFB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582790" y="4357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1DAFB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418709" y="3976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1DAFB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0254629" y="43576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1DAFB"/>
          </a:solidFill>
          <a:ln cap="flat" cmpd="sng" w="381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57987" y="3952875"/>
            <a:ext cx="2368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Install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14375" y="4552950"/>
            <a:ext cx="22554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npm install react-router-dom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3493907" y="3952875"/>
            <a:ext cx="2368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Setup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3550294" y="4552950"/>
            <a:ext cx="22554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BrowserRouter &amp; Routes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329827" y="3571875"/>
            <a:ext cx="2368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Define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386214" y="4171950"/>
            <a:ext cx="225549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Route path="/" &amp; component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165747" y="3952875"/>
            <a:ext cx="2368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Navigate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222134" y="4552950"/>
            <a:ext cx="22554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Link component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Page Navigation Flow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10025"/>
            <a:ext cx="5286375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6334125" y="27241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1DAFB"/>
                </a:solidFill>
                <a:latin typeface="Poppins"/>
                <a:ea typeface="Poppins"/>
                <a:cs typeface="Poppins"/>
                <a:sym typeface="Poppins"/>
              </a:rPr>
              <a:t>Avoid Prop Drilling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334125" y="33242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Context provides a way to pass data through the component tree without having to pass props down manually at every level.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334125" y="47339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Ideal for themes, user auth, and global settings.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State Sharing: useContext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850" y="1608050"/>
            <a:ext cx="4246450" cy="42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3220640" y="1952625"/>
            <a:ext cx="5750718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3357562" y="3571875"/>
            <a:ext cx="5476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1DAFB"/>
                </a:solidFill>
                <a:latin typeface="Lato"/>
                <a:ea typeface="Lato"/>
                <a:cs typeface="Lato"/>
                <a:sym typeface="Lato"/>
              </a:rPr>
              <a:t>Ready to build your first React app!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067175" y="4505325"/>
            <a:ext cx="2162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help@reactbootcamp.io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6610350" y="4505325"/>
            <a:ext cx="15144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docs.reactjs.org</a:t>
            </a:r>
            <a:endParaRPr/>
          </a:p>
        </p:txBody>
      </p:sp>
      <p:pic>
        <p:nvPicPr>
          <p:cNvPr descr="image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7175" y="45624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0350" y="456247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